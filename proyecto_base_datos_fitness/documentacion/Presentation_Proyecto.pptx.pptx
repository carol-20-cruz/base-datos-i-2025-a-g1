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Modular" charset="1" panose="00000800000000000000"/>
      <p:regular r:id="rId15"/>
    </p:embeddedFont>
    <p:embeddedFont>
      <p:font typeface="Raleway" charset="1" panose="00000000000000000000"/>
      <p:regular r:id="rId16"/>
    </p:embeddedFont>
    <p:embeddedFont>
      <p:font typeface="Tomorrow" charset="1" panose="00000000000000000000"/>
      <p:regular r:id="rId17"/>
    </p:embeddedFont>
    <p:embeddedFont>
      <p:font typeface="Raleway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4238" y="8299927"/>
            <a:ext cx="14719524" cy="1253510"/>
            <a:chOff x="0" y="0"/>
            <a:chExt cx="3876747" cy="3301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76747" cy="330143"/>
            </a:xfrm>
            <a:custGeom>
              <a:avLst/>
              <a:gdLst/>
              <a:ahLst/>
              <a:cxnLst/>
              <a:rect r="r" b="b" t="t" l="l"/>
              <a:pathLst>
                <a:path h="33014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3876747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63917" y="4024488"/>
            <a:ext cx="12079506" cy="121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871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SISTEMA 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79697" y="5332008"/>
            <a:ext cx="11902421" cy="100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721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GESTIÓN FITNESS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28485" y="8783894"/>
            <a:ext cx="4522104" cy="30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1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visual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43423" y="1149163"/>
            <a:ext cx="1380113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63917" y="7311117"/>
            <a:ext cx="11933981" cy="59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1"/>
              </a:lnSpc>
            </a:pPr>
            <a:r>
              <a:rPr lang="en-US" sz="21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 de Datos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  <a:r>
              <a:rPr lang="en-US" sz="21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Mayo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81113" y="2172746"/>
            <a:ext cx="6044050" cy="5246370"/>
            <a:chOff x="0" y="0"/>
            <a:chExt cx="93638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6382" cy="812800"/>
            </a:xfrm>
            <a:custGeom>
              <a:avLst/>
              <a:gdLst/>
              <a:ahLst/>
              <a:cxnLst/>
              <a:rect r="r" b="b" t="t" l="l"/>
              <a:pathLst>
                <a:path h="812800" w="936382">
                  <a:moveTo>
                    <a:pt x="0" y="0"/>
                  </a:moveTo>
                  <a:lnTo>
                    <a:pt x="936382" y="0"/>
                  </a:lnTo>
                  <a:lnTo>
                    <a:pt x="93638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5142" t="0" r="-151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343423" y="1149163"/>
            <a:ext cx="1445794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70633" y="2239421"/>
            <a:ext cx="9876128" cy="139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</a:pPr>
            <a:r>
              <a:rPr lang="en-US" sz="51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PLANTEAMIENTO</a:t>
            </a:r>
          </a:p>
          <a:p>
            <a:pPr algn="l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DEL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4932" y="2970560"/>
            <a:ext cx="5201388" cy="709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0633" y="4640538"/>
            <a:ext cx="8018584" cy="17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Las personas que llevan un plan de alimentación o rutina </a:t>
            </a:r>
          </a:p>
          <a:p>
            <a:pPr algn="l">
              <a:lnSpc>
                <a:spcPts val="2473"/>
              </a:lnSpc>
            </a:pP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 ejercicios suelen perder el control sobre su progreso.</a:t>
            </a:r>
          </a:p>
          <a:p>
            <a:pPr algn="l">
              <a:lnSpc>
                <a:spcPts val="2473"/>
              </a:lnSpc>
            </a:pP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No existe una solución integrada y personalizada que </a:t>
            </a:r>
          </a:p>
          <a:p>
            <a:pPr algn="l">
              <a:lnSpc>
                <a:spcPts val="2473"/>
              </a:lnSpc>
            </a:pP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permita registrar entrenamientos, alimentos consumidos, </a:t>
            </a:r>
          </a:p>
          <a:p>
            <a:pPr algn="l">
              <a:lnSpc>
                <a:spcPts val="2473"/>
              </a:lnSpc>
            </a:pP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objetivos y evolución física.</a:t>
            </a:r>
          </a:p>
          <a:p>
            <a:pPr algn="l">
              <a:lnSpc>
                <a:spcPts val="1943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162043" y="4281866"/>
            <a:ext cx="1438140" cy="1028129"/>
            <a:chOff x="0" y="0"/>
            <a:chExt cx="378769" cy="2707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7919" y="4621488"/>
            <a:ext cx="506387" cy="348885"/>
          </a:xfrm>
          <a:custGeom>
            <a:avLst/>
            <a:gdLst/>
            <a:ahLst/>
            <a:cxnLst/>
            <a:rect r="r" b="b" t="t" l="l"/>
            <a:pathLst>
              <a:path h="348885" w="506387">
                <a:moveTo>
                  <a:pt x="0" y="0"/>
                </a:moveTo>
                <a:lnTo>
                  <a:pt x="506387" y="0"/>
                </a:lnTo>
                <a:lnTo>
                  <a:pt x="506387" y="348885"/>
                </a:lnTo>
                <a:lnTo>
                  <a:pt x="0" y="348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61772" y="2222585"/>
            <a:ext cx="8320792" cy="2832529"/>
            <a:chOff x="0" y="0"/>
            <a:chExt cx="1289108" cy="4388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9108" cy="438833"/>
            </a:xfrm>
            <a:custGeom>
              <a:avLst/>
              <a:gdLst/>
              <a:ahLst/>
              <a:cxnLst/>
              <a:rect r="r" b="b" t="t" l="l"/>
              <a:pathLst>
                <a:path h="438833" w="1289108">
                  <a:moveTo>
                    <a:pt x="0" y="0"/>
                  </a:moveTo>
                  <a:lnTo>
                    <a:pt x="1289108" y="0"/>
                  </a:lnTo>
                  <a:lnTo>
                    <a:pt x="1289108" y="438833"/>
                  </a:lnTo>
                  <a:lnTo>
                    <a:pt x="0" y="438833"/>
                  </a:lnTo>
                  <a:close/>
                </a:path>
              </a:pathLst>
            </a:custGeom>
            <a:blipFill>
              <a:blip r:embed="rId5"/>
              <a:stretch>
                <a:fillRect l="0" t="-47858" r="0" b="-4785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03868" y="5835524"/>
            <a:ext cx="1488587" cy="14885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2C4A89">
                      <a:alpha val="100000"/>
                    </a:srgbClr>
                  </a:gs>
                  <a:gs pos="5000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343423" y="1149163"/>
            <a:ext cx="1396226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81113" y="2484962"/>
            <a:ext cx="6136178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SOLUCIÓN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1113" y="3306671"/>
            <a:ext cx="5893302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PROPUESTA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1113" y="4565517"/>
            <a:ext cx="5426966" cy="326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Desarrollar un sistema de gestión fitness que permita:</a:t>
            </a:r>
          </a:p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Registrar usuarios y sus roles (modelo de seguridad)</a:t>
            </a:r>
          </a:p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Gestionar rutinas y entrenamientos personalizados</a:t>
            </a:r>
          </a:p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Controlar planes alimenticios y sus componentes</a:t>
            </a:r>
          </a:p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Hacer seguimiento del progreso físico de los usuarios</a:t>
            </a:r>
          </a:p>
          <a:p>
            <a:pPr algn="l">
              <a:lnSpc>
                <a:spcPts val="2367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1677874" y="5835524"/>
            <a:ext cx="1488587" cy="148858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2C4A89">
                      <a:alpha val="100000"/>
                    </a:srgbClr>
                  </a:gs>
                  <a:gs pos="5000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751881" y="5835524"/>
            <a:ext cx="1488587" cy="148858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2C4A89">
                      <a:alpha val="100000"/>
                    </a:srgbClr>
                  </a:gs>
                  <a:gs pos="5000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56062" y="6358983"/>
            <a:ext cx="584198" cy="4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340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30069" y="6358983"/>
            <a:ext cx="584198" cy="4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340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04075" y="6358983"/>
            <a:ext cx="584198" cy="4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sz="3407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43423" y="1149163"/>
            <a:ext cx="1186759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7329" y="757285"/>
            <a:ext cx="9502284" cy="63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  <a:spcBef>
                <a:spcPct val="0"/>
              </a:spcBef>
            </a:pPr>
            <a:r>
              <a:rPr lang="en-US" sz="4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OBJETIVOS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64944" y="1526016"/>
            <a:ext cx="10311924" cy="60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8"/>
              </a:lnSpc>
              <a:spcBef>
                <a:spcPct val="0"/>
              </a:spcBef>
            </a:pPr>
            <a:r>
              <a:rPr lang="en-US" sz="4300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GENERAL Y ESPECIFICOS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34424" y="3897995"/>
            <a:ext cx="6211929" cy="5028687"/>
            <a:chOff x="0" y="0"/>
            <a:chExt cx="1636064" cy="13244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36064" cy="1324428"/>
            </a:xfrm>
            <a:custGeom>
              <a:avLst/>
              <a:gdLst/>
              <a:ahLst/>
              <a:cxnLst/>
              <a:rect r="r" b="b" t="t" l="l"/>
              <a:pathLst>
                <a:path h="1324428" w="1636064">
                  <a:moveTo>
                    <a:pt x="0" y="0"/>
                  </a:moveTo>
                  <a:lnTo>
                    <a:pt x="1636064" y="0"/>
                  </a:lnTo>
                  <a:lnTo>
                    <a:pt x="1636064" y="1324428"/>
                  </a:lnTo>
                  <a:lnTo>
                    <a:pt x="0" y="1324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636064" cy="1295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50589" y="3866301"/>
            <a:ext cx="6429411" cy="5060381"/>
            <a:chOff x="0" y="0"/>
            <a:chExt cx="1693343" cy="13327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3343" cy="1332775"/>
            </a:xfrm>
            <a:custGeom>
              <a:avLst/>
              <a:gdLst/>
              <a:ahLst/>
              <a:cxnLst/>
              <a:rect r="r" b="b" t="t" l="l"/>
              <a:pathLst>
                <a:path h="1332775" w="1693343">
                  <a:moveTo>
                    <a:pt x="0" y="0"/>
                  </a:moveTo>
                  <a:lnTo>
                    <a:pt x="1693343" y="0"/>
                  </a:lnTo>
                  <a:lnTo>
                    <a:pt x="1693343" y="1332775"/>
                  </a:lnTo>
                  <a:lnTo>
                    <a:pt x="0" y="1332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gradFill>
                <a:gsLst>
                  <a:gs pos="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693343" cy="1304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03542" y="3650345"/>
            <a:ext cx="5571990" cy="5276337"/>
            <a:chOff x="0" y="0"/>
            <a:chExt cx="1467520" cy="13896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7520" cy="1389652"/>
            </a:xfrm>
            <a:custGeom>
              <a:avLst/>
              <a:gdLst/>
              <a:ahLst/>
              <a:cxnLst/>
              <a:rect r="r" b="b" t="t" l="l"/>
              <a:pathLst>
                <a:path h="1389652" w="1467520">
                  <a:moveTo>
                    <a:pt x="0" y="0"/>
                  </a:moveTo>
                  <a:lnTo>
                    <a:pt x="1467520" y="0"/>
                  </a:lnTo>
                  <a:lnTo>
                    <a:pt x="1467520" y="1389652"/>
                  </a:lnTo>
                  <a:lnTo>
                    <a:pt x="0" y="1389652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467520" cy="1361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70871" y="5227093"/>
            <a:ext cx="5207208" cy="356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b="true" sz="223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Diseñar un modelo entidad-relación</a:t>
            </a: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que represente adecuadamente los módulos de seguridad, nutrición y entrenamiento del sistema.</a:t>
            </a:r>
          </a:p>
          <a:p>
            <a:pPr algn="l">
              <a:lnSpc>
                <a:spcPts val="2367"/>
              </a:lnSpc>
            </a:pPr>
          </a:p>
          <a:p>
            <a:pPr algn="l" marL="482111" indent="-241055" lvl="1">
              <a:lnSpc>
                <a:spcPts val="2367"/>
              </a:lnSpc>
              <a:buFont typeface="Arial"/>
              <a:buChar char="•"/>
            </a:pPr>
            <a:r>
              <a:rPr lang="en-US" b="true" sz="223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Implementar una base de datos relacional</a:t>
            </a:r>
            <a:r>
              <a:rPr lang="en-US" sz="22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que permita almacenar de forma segura y organizada los datos personales, rutinas, objetivos, alimentos y registros de progreso de los usuarios.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634" y="4218737"/>
            <a:ext cx="2413310" cy="69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b="true" sz="2533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OBJETIVOS ESPECÍFICOS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34788" y="4785474"/>
            <a:ext cx="4727365" cy="358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sz="24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Desarrollar un sistema de gestión de datos para usuarios que realizan actividad física, permitiendo registrar, consultar y administrar información relacionada con su progreso físico, entrenamientos, alimentación y seguridad de acceso, mediante una base de datos estructurada y normalizada.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73110" y="4196218"/>
            <a:ext cx="3050722" cy="35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5"/>
              </a:lnSpc>
              <a:spcBef>
                <a:spcPct val="0"/>
              </a:spcBef>
            </a:pPr>
            <a:r>
              <a:rPr lang="en-US" b="true" sz="2533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GENERAL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04182" y="5040030"/>
            <a:ext cx="5082722" cy="398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700" indent="-251850" lvl="1">
              <a:lnSpc>
                <a:spcPts val="2473"/>
              </a:lnSpc>
              <a:buFont typeface="Arial"/>
              <a:buChar char="•"/>
            </a:pPr>
            <a:r>
              <a:rPr lang="en-US" b="true" sz="233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Desarrollar procedimientos almacenados, funciones y triggers</a:t>
            </a: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para automatizar operaciones frecuentes del sistema y garantizar la integridad de los datos.</a:t>
            </a:r>
          </a:p>
          <a:p>
            <a:pPr algn="l">
              <a:lnSpc>
                <a:spcPts val="2473"/>
              </a:lnSpc>
            </a:pPr>
          </a:p>
          <a:p>
            <a:pPr algn="l" marL="503700" indent="-251850" lvl="1">
              <a:lnSpc>
                <a:spcPts val="2473"/>
              </a:lnSpc>
              <a:buFont typeface="Arial"/>
              <a:buChar char="•"/>
            </a:pPr>
            <a:r>
              <a:rPr lang="en-US" b="true" sz="233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Realizar consultas SQL</a:t>
            </a:r>
            <a:r>
              <a:rPr lang="en-US" sz="23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que permitan extraer información relevante para el análisis del progreso físico y hábitos alimenticios de los usuarios.</a:t>
            </a:r>
          </a:p>
          <a:p>
            <a:pPr algn="l">
              <a:lnSpc>
                <a:spcPts val="2473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294892" y="4196218"/>
            <a:ext cx="2641910" cy="69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  <a:spcBef>
                <a:spcPct val="0"/>
              </a:spcBef>
            </a:pPr>
            <a:r>
              <a:rPr lang="en-US" b="true" sz="2533">
                <a:solidFill>
                  <a:srgbClr val="00BBDE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OBJETIVOS ESPECÍFICOS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58497" y="2786380"/>
            <a:ext cx="8720669" cy="7151872"/>
          </a:xfrm>
          <a:custGeom>
            <a:avLst/>
            <a:gdLst/>
            <a:ahLst/>
            <a:cxnLst/>
            <a:rect r="r" b="b" t="t" l="l"/>
            <a:pathLst>
              <a:path h="7151872" w="8720669">
                <a:moveTo>
                  <a:pt x="0" y="0"/>
                </a:moveTo>
                <a:lnTo>
                  <a:pt x="8720669" y="0"/>
                </a:lnTo>
                <a:lnTo>
                  <a:pt x="8720669" y="7151872"/>
                </a:lnTo>
                <a:lnTo>
                  <a:pt x="0" y="715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343423" y="1149163"/>
            <a:ext cx="1444564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9820" y="1085850"/>
            <a:ext cx="9502284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MODELO DE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41840" y="1917065"/>
            <a:ext cx="7038244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DATOS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1790" y="4027318"/>
            <a:ext cx="6280627" cy="468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37" indent="-316618" lvl="1">
              <a:lnSpc>
                <a:spcPts val="3108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de Seguridad: controla acceso con usuarios, roles, módulos y formularios</a:t>
            </a:r>
          </a:p>
          <a:p>
            <a:pPr algn="l">
              <a:lnSpc>
                <a:spcPts val="3108"/>
              </a:lnSpc>
            </a:pPr>
            <a:r>
              <a:rPr lang="en-US" sz="2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 marL="633237" indent="-316618" lvl="1">
              <a:lnSpc>
                <a:spcPts val="3108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de Entrenamiento: gestiona rutinas, objetivos, entrenamientos y progreso.</a:t>
            </a:r>
          </a:p>
          <a:p>
            <a:pPr algn="l">
              <a:lnSpc>
                <a:spcPts val="3108"/>
              </a:lnSpc>
            </a:pPr>
          </a:p>
          <a:p>
            <a:pPr algn="l" marL="633237" indent="-316618" lvl="1">
              <a:lnSpc>
                <a:spcPts val="3108"/>
              </a:lnSpc>
              <a:buFont typeface="Arial"/>
              <a:buChar char="•"/>
            </a:pPr>
            <a:r>
              <a:rPr lang="en-US" sz="29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Módulo de Nutrición: permite definir dietas, alimentos y registros alimenticios.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43423" y="1149163"/>
            <a:ext cx="1347887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1113" y="2493449"/>
            <a:ext cx="10470617" cy="7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  <a:spcBef>
                <a:spcPct val="0"/>
              </a:spcBef>
            </a:pPr>
            <a:r>
              <a:rPr lang="en-US" sz="52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FUNCIONALIDADES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1113" y="3324683"/>
            <a:ext cx="7457566" cy="7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2"/>
              </a:lnSpc>
              <a:spcBef>
                <a:spcPct val="0"/>
              </a:spcBef>
            </a:pPr>
            <a:r>
              <a:rPr lang="en-US" sz="5200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PRINCIPALES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1113" y="4441237"/>
            <a:ext cx="6682548" cy="458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879" indent="-273440" lvl="1">
              <a:lnSpc>
                <a:spcPts val="2685"/>
              </a:lnSpc>
              <a:buFont typeface="Arial"/>
              <a:buChar char="•"/>
            </a:pPr>
            <a:r>
              <a:rPr lang="en-US" sz="25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Crear usuarios con roles y permisos</a:t>
            </a:r>
          </a:p>
          <a:p>
            <a:pPr algn="l">
              <a:lnSpc>
                <a:spcPts val="2155"/>
              </a:lnSpc>
            </a:pPr>
          </a:p>
          <a:p>
            <a:pPr algn="l" marL="546879" indent="-273440" lvl="1">
              <a:lnSpc>
                <a:spcPts val="2685"/>
              </a:lnSpc>
              <a:buFont typeface="Arial"/>
              <a:buChar char="•"/>
            </a:pPr>
            <a:r>
              <a:rPr lang="en-US" sz="25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Registrar entrenamientos por rutina, objetivo y fecha</a:t>
            </a:r>
          </a:p>
          <a:p>
            <a:pPr algn="l">
              <a:lnSpc>
                <a:spcPts val="2685"/>
              </a:lnSpc>
            </a:pPr>
          </a:p>
          <a:p>
            <a:pPr algn="l" marL="546879" indent="-273440" lvl="1">
              <a:lnSpc>
                <a:spcPts val="2685"/>
              </a:lnSpc>
              <a:buFont typeface="Arial"/>
              <a:buChar char="•"/>
            </a:pPr>
            <a:r>
              <a:rPr lang="en-US" sz="25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Asociar alimentos a dietas personalizadas</a:t>
            </a:r>
          </a:p>
          <a:p>
            <a:pPr algn="l">
              <a:lnSpc>
                <a:spcPts val="2685"/>
              </a:lnSpc>
            </a:pPr>
          </a:p>
          <a:p>
            <a:pPr algn="l" marL="546879" indent="-273440" lvl="1">
              <a:lnSpc>
                <a:spcPts val="2685"/>
              </a:lnSpc>
              <a:buFont typeface="Arial"/>
              <a:buChar char="•"/>
            </a:pPr>
            <a:r>
              <a:rPr lang="en-US" sz="25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Realizar seguimiento del progreso físico (peso, altura, grasa corporal)</a:t>
            </a:r>
          </a:p>
          <a:p>
            <a:pPr algn="l">
              <a:lnSpc>
                <a:spcPts val="2685"/>
              </a:lnSpc>
            </a:pPr>
          </a:p>
          <a:p>
            <a:pPr algn="l" marL="546879" indent="-273440" lvl="1">
              <a:lnSpc>
                <a:spcPts val="2685"/>
              </a:lnSpc>
              <a:buFont typeface="Arial"/>
              <a:buChar char="•"/>
            </a:pPr>
            <a:r>
              <a:rPr lang="en-US" sz="25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Consultas SQL, procedimientos y triggers automatizados</a:t>
            </a:r>
          </a:p>
          <a:p>
            <a:pPr algn="l">
              <a:lnSpc>
                <a:spcPts val="2367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1215250" y="2204587"/>
            <a:ext cx="6044050" cy="5246370"/>
            <a:chOff x="0" y="0"/>
            <a:chExt cx="936382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6382" cy="812800"/>
            </a:xfrm>
            <a:custGeom>
              <a:avLst/>
              <a:gdLst/>
              <a:ahLst/>
              <a:cxnLst/>
              <a:rect r="r" b="b" t="t" l="l"/>
              <a:pathLst>
                <a:path h="812800" w="936382">
                  <a:moveTo>
                    <a:pt x="0" y="0"/>
                  </a:moveTo>
                  <a:lnTo>
                    <a:pt x="936382" y="0"/>
                  </a:lnTo>
                  <a:lnTo>
                    <a:pt x="93638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15142" t="0" r="-1514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20883" y="6724610"/>
            <a:ext cx="6044050" cy="1187199"/>
            <a:chOff x="0" y="0"/>
            <a:chExt cx="1591849" cy="312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1849" cy="312678"/>
            </a:xfrm>
            <a:custGeom>
              <a:avLst/>
              <a:gdLst/>
              <a:ahLst/>
              <a:cxnLst/>
              <a:rect r="r" b="b" t="t" l="l"/>
              <a:pathLst>
                <a:path h="312678" w="1591849">
                  <a:moveTo>
                    <a:pt x="0" y="0"/>
                  </a:moveTo>
                  <a:lnTo>
                    <a:pt x="1591849" y="0"/>
                  </a:lnTo>
                  <a:lnTo>
                    <a:pt x="1591849" y="312678"/>
                  </a:lnTo>
                  <a:lnTo>
                    <a:pt x="0" y="312678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591849" cy="284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43423" y="1149163"/>
            <a:ext cx="1471526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97723" y="2228243"/>
            <a:ext cx="6345644" cy="77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TECHNOLOGY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97723" y="3040426"/>
            <a:ext cx="6668943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UTILIZADAS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881113" y="2171093"/>
            <a:ext cx="4707620" cy="3365487"/>
            <a:chOff x="0" y="0"/>
            <a:chExt cx="378769" cy="2707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406117" y="3282814"/>
            <a:ext cx="1657612" cy="1142043"/>
          </a:xfrm>
          <a:custGeom>
            <a:avLst/>
            <a:gdLst/>
            <a:ahLst/>
            <a:cxnLst/>
            <a:rect r="r" b="b" t="t" l="l"/>
            <a:pathLst>
              <a:path h="1142043" w="1657612">
                <a:moveTo>
                  <a:pt x="0" y="0"/>
                </a:moveTo>
                <a:lnTo>
                  <a:pt x="1657611" y="0"/>
                </a:lnTo>
                <a:lnTo>
                  <a:pt x="1657611" y="1142044"/>
                </a:lnTo>
                <a:lnTo>
                  <a:pt x="0" y="1142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042240" y="5764653"/>
            <a:ext cx="2004646" cy="20046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2C4A89">
                      <a:alpha val="100000"/>
                    </a:srgbClr>
                  </a:gs>
                  <a:gs pos="5000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59542" y="6550686"/>
            <a:ext cx="1770043" cy="52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4"/>
              </a:lnSpc>
              <a:spcBef>
                <a:spcPct val="0"/>
              </a:spcBef>
            </a:pPr>
            <a:r>
              <a:rPr lang="en-US" sz="380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10%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422958" y="5764653"/>
            <a:ext cx="2004646" cy="200464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2C4A89">
                      <a:alpha val="100000"/>
                    </a:srgbClr>
                  </a:gs>
                  <a:gs pos="50000">
                    <a:srgbClr val="ABC5FD">
                      <a:alpha val="100000"/>
                    </a:srgbClr>
                  </a:gs>
                  <a:gs pos="100000">
                    <a:srgbClr val="795A8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540260" y="6550686"/>
            <a:ext cx="1770043" cy="52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4"/>
              </a:lnSpc>
              <a:spcBef>
                <a:spcPct val="0"/>
              </a:spcBef>
            </a:pPr>
            <a:r>
              <a:rPr lang="en-US" sz="380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78%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97723" y="4453433"/>
            <a:ext cx="7845699" cy="306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468" indent="-284234" lvl="1">
              <a:lnSpc>
                <a:spcPts val="2790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MySQL</a:t>
            </a:r>
          </a:p>
          <a:p>
            <a:pPr algn="l">
              <a:lnSpc>
                <a:spcPts val="2790"/>
              </a:lnSpc>
            </a:pPr>
          </a:p>
          <a:p>
            <a:pPr algn="l" marL="568468" indent="-284234" lvl="1">
              <a:lnSpc>
                <a:spcPts val="2790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VS Code</a:t>
            </a:r>
          </a:p>
          <a:p>
            <a:pPr algn="l">
              <a:lnSpc>
                <a:spcPts val="2790"/>
              </a:lnSpc>
            </a:pPr>
          </a:p>
          <a:p>
            <a:pPr algn="l" marL="568468" indent="-284234" lvl="1">
              <a:lnSpc>
                <a:spcPts val="2790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Git y GitHub</a:t>
            </a:r>
          </a:p>
          <a:p>
            <a:pPr algn="l">
              <a:lnSpc>
                <a:spcPts val="2790"/>
              </a:lnSpc>
            </a:pPr>
          </a:p>
          <a:p>
            <a:pPr algn="l" marL="568468" indent="-284234" lvl="1">
              <a:lnSpc>
                <a:spcPts val="2790"/>
              </a:lnSpc>
              <a:buFont typeface="Arial"/>
              <a:buChar char="•"/>
            </a:pP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draw.io / dbdiagram.io para </a:t>
            </a:r>
          </a:p>
          <a:p>
            <a:pPr algn="l">
              <a:lnSpc>
                <a:spcPts val="2790"/>
              </a:lnSpc>
            </a:pP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      </a:t>
            </a:r>
            <a:r>
              <a:rPr lang="en-US" sz="26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los modelos</a:t>
            </a:r>
          </a:p>
          <a:p>
            <a:pPr algn="l">
              <a:lnSpc>
                <a:spcPts val="1943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2699111" y="3783675"/>
            <a:ext cx="4115838" cy="3200048"/>
            <a:chOff x="0" y="0"/>
            <a:chExt cx="637651" cy="4957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7651" cy="495771"/>
            </a:xfrm>
            <a:custGeom>
              <a:avLst/>
              <a:gdLst/>
              <a:ahLst/>
              <a:cxnLst/>
              <a:rect r="r" b="b" t="t" l="l"/>
              <a:pathLst>
                <a:path h="495771" w="637651">
                  <a:moveTo>
                    <a:pt x="0" y="0"/>
                  </a:moveTo>
                  <a:lnTo>
                    <a:pt x="637651" y="0"/>
                  </a:lnTo>
                  <a:lnTo>
                    <a:pt x="637651" y="495771"/>
                  </a:lnTo>
                  <a:lnTo>
                    <a:pt x="0" y="495771"/>
                  </a:lnTo>
                  <a:close/>
                </a:path>
              </a:pathLst>
            </a:custGeom>
            <a:blipFill>
              <a:blip r:embed="rId7"/>
              <a:stretch>
                <a:fillRect l="-8348" t="0" r="-8348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124298" y="6560174"/>
            <a:ext cx="1438140" cy="1028129"/>
            <a:chOff x="0" y="0"/>
            <a:chExt cx="378769" cy="2707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430884" y="4154191"/>
            <a:ext cx="5747144" cy="3296492"/>
            <a:chOff x="0" y="0"/>
            <a:chExt cx="7981950" cy="457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3328" r="0" b="-332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343423" y="1149163"/>
            <a:ext cx="1186759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38395" y="1818842"/>
            <a:ext cx="9502284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CONCLUSIONES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6634" y="2682643"/>
            <a:ext cx="7038244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9"/>
              </a:lnSpc>
              <a:spcBef>
                <a:spcPct val="0"/>
              </a:spcBef>
            </a:pPr>
            <a:r>
              <a:rPr lang="en-US" sz="5499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BENEFICIOS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1603" y="4342533"/>
            <a:ext cx="5569452" cy="2938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290" indent="-262645" lvl="1">
              <a:lnSpc>
                <a:spcPts val="2579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sistema permite una gestión integral de la vida fitness</a:t>
            </a:r>
          </a:p>
          <a:p>
            <a:pPr algn="l">
              <a:lnSpc>
                <a:spcPts val="2579"/>
              </a:lnSpc>
            </a:pPr>
          </a:p>
          <a:p>
            <a:pPr algn="l" marL="525290" indent="-262645" lvl="1">
              <a:lnSpc>
                <a:spcPts val="2579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 escalable y modular (seguridad, nutrición y entrenamiento están separados)</a:t>
            </a:r>
          </a:p>
          <a:p>
            <a:pPr algn="l">
              <a:lnSpc>
                <a:spcPts val="2579"/>
              </a:lnSpc>
            </a:pPr>
          </a:p>
          <a:p>
            <a:pPr algn="l" marL="525290" indent="-262645" lvl="1">
              <a:lnSpc>
                <a:spcPts val="2579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Aporta valor al seguimiento del progreso físico de los usuarios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0" y="0"/>
                </a:moveTo>
                <a:lnTo>
                  <a:pt x="422840" y="0"/>
                </a:lnTo>
                <a:lnTo>
                  <a:pt x="422840" y="288300"/>
                </a:lnTo>
                <a:lnTo>
                  <a:pt x="0" y="28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3097933" y="8299927"/>
            <a:ext cx="21744694" cy="1253510"/>
            <a:chOff x="0" y="0"/>
            <a:chExt cx="5726998" cy="330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6998" cy="330143"/>
            </a:xfrm>
            <a:custGeom>
              <a:avLst/>
              <a:gdLst/>
              <a:ahLst/>
              <a:cxnLst/>
              <a:rect r="r" b="b" t="t" l="l"/>
              <a:pathLst>
                <a:path h="330143" w="5726998">
                  <a:moveTo>
                    <a:pt x="0" y="0"/>
                  </a:moveTo>
                  <a:lnTo>
                    <a:pt x="5726998" y="0"/>
                  </a:lnTo>
                  <a:lnTo>
                    <a:pt x="5726998" y="330143"/>
                  </a:lnTo>
                  <a:lnTo>
                    <a:pt x="0" y="330143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5726998" cy="301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343423" y="1149163"/>
            <a:ext cx="1186759" cy="20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  <a:spcBef>
                <a:spcPct val="0"/>
              </a:spcBef>
            </a:pPr>
            <a:r>
              <a:rPr lang="en-US" sz="1433" spc="34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SLIDE 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73468" y="4203461"/>
            <a:ext cx="11141064" cy="144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9"/>
              </a:lnSpc>
              <a:spcBef>
                <a:spcPct val="0"/>
              </a:spcBef>
            </a:pPr>
            <a:r>
              <a:rPr lang="en-US" sz="10518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17964" y="5793130"/>
            <a:ext cx="8252072" cy="1446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9"/>
              </a:lnSpc>
              <a:spcBef>
                <a:spcPct val="0"/>
              </a:spcBef>
            </a:pPr>
            <a:r>
              <a:rPr lang="en-US" sz="10518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YOU!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548205" y="2661815"/>
            <a:ext cx="1657612" cy="1142043"/>
          </a:xfrm>
          <a:custGeom>
            <a:avLst/>
            <a:gdLst/>
            <a:ahLst/>
            <a:cxnLst/>
            <a:rect r="r" b="b" t="t" l="l"/>
            <a:pathLst>
              <a:path h="1142043" w="1657612">
                <a:moveTo>
                  <a:pt x="0" y="0"/>
                </a:moveTo>
                <a:lnTo>
                  <a:pt x="1657612" y="0"/>
                </a:lnTo>
                <a:lnTo>
                  <a:pt x="1657612" y="1142043"/>
                </a:lnTo>
                <a:lnTo>
                  <a:pt x="0" y="1142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DAGntJOE8So</dc:identifier>
  <dcterms:modified xsi:type="dcterms:W3CDTF">2011-08-01T06:04:30Z</dcterms:modified>
  <cp:revision>1</cp:revision>
  <dc:title>Blue Black Tech Programmer Presentation</dc:title>
</cp:coreProperties>
</file>